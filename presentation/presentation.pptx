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57200"/>
            <a:ext cx="11057839" cy="0"/>
          </a:xfrm>
          <a:prstGeom prst="line">
            <a:avLst/>
          </a:prstGeom>
          <a:ln w="15875">
            <a:solidFill>
              <a:srgbClr val="1A17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60350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714"/>
                </a:solidFill>
                <a:latin typeface="Consolas"/>
                <a:ea typeface="Consolas"/>
              </a:rPr>
              <a:t>中研院職員訓練 / Antigravity 2.0 &amp;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1" i="0">
                <a:solidFill>
                  <a:srgbClr val="D75F00"/>
                </a:solidFill>
                <a:latin typeface="Noto Sans TC"/>
                <a:ea typeface="Noto Sans TC"/>
              </a:rPr>
              <a:t>自然語言驅動</a:t>
            </a:r>
            <a:r>
              <a:rPr sz="3600" b="1" i="0">
                <a:solidFill>
                  <a:srgbClr val="1A1714"/>
                </a:solidFill>
                <a:latin typeface="Noto Sans TC"/>
                <a:ea typeface="Noto Sans TC"/>
              </a:rPr>
              <a:t>的日常</a:t>
            </a:r>
            <a:r>
              <a:rPr sz="3600" b="1" i="0">
                <a:solidFill>
                  <a:srgbClr val="D75F00"/>
                </a:solidFill>
                <a:latin typeface="Noto Sans TC"/>
                <a:ea typeface="Noto Sans TC"/>
              </a:rPr>
              <a:t>工作自動化
</a:t>
            </a:r>
            <a:r>
              <a:rPr sz="3600" b="1" i="0">
                <a:solidFill>
                  <a:srgbClr val="1A1714"/>
                </a:solidFill>
                <a:latin typeface="Noto Sans TC"/>
                <a:ea typeface="Noto Sans TC"/>
              </a:rPr>
              <a:t>Google Antigravity 2.0 與 Vibe Coding 實務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498848"/>
            <a:ext cx="1417320" cy="0"/>
          </a:xfrm>
          <a:prstGeom prst="line">
            <a:avLst/>
          </a:prstGeom>
          <a:ln w="38100">
            <a:solidFill>
              <a:srgbClr val="D75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828032"/>
            <a:ext cx="85953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8A8177"/>
                </a:solidFill>
                <a:latin typeface="Noto Sans TC"/>
                <a:ea typeface="Noto Sans TC"/>
              </a:rPr>
              <a:t>中央研究院職員實務工作坊 · 90 分鐘全流程解析與三大工作場景示範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062472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453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714"/>
                </a:solidFill>
                <a:latin typeface="Consolas"/>
                <a:ea typeface="Consolas"/>
              </a:rPr>
              <a:t>資訊處 / 專題分享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8767" y="6245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2026-09</a:t>
            </a:r>
          </a:p>
        </p:txBody>
      </p:sp>
      <p:pic>
        <p:nvPicPr>
          <p:cNvPr id="10" name="Picture 9" descr="antigravity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15568"/>
            <a:ext cx="843340" cy="77724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00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從思維翻轉到實務落地的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90 分鐘節奏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跳過繁瑣環境設定，以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即時螢幕操作示範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為核心，完整走過需求發布至成果驗收。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532888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PART 01</a:t>
            </a: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  · 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26080"/>
            <a:ext cx="22311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觀念建立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思維翻轉與代理人本質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3721608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3867912"/>
            <a:ext cx="22311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傳統程式設計 vs. Vibe Coding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單輪問答升級為主動代理人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白話描述結果取代手寫步驟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532888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PART 02</a:t>
            </a: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  ·  12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2311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介面導覽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Antigravity 2.0 儀表板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3721608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66160" y="3867912"/>
            <a:ext cx="22311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三大工作區：管理、對話與變更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Slash Commands 快速工作流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@ Mention 脈絡注入本機檔案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532888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PART 03</a:t>
            </a: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  ·  43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926080"/>
            <a:ext cx="22311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實務示範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三大日常辦公與研究場景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82512" y="3721608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82512" y="3867912"/>
            <a:ext cx="22311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示範 A：磁碟空間與智慧檔案歸檔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示範 B：研究資料摘要與簡報生成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示範 C：公開網站爬蟲與定時排程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532888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PART 04</a:t>
            </a: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  ·  20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926080"/>
            <a:ext cx="22311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最佳實踐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Prompt 公式與資安防線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98864" y="3721608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98864" y="3867912"/>
            <a:ext cx="22311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提示詞 4 大要素（角色/背景/格式/限制）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三大防線：計畫審核與資料隔離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400" b="0" i="0">
                <a:solidFill>
                  <a:srgbClr val="4A443D"/>
                </a:solidFill>
                <a:latin typeface="Noto Sans TC"/>
                <a:ea typeface="Noto Sans TC"/>
              </a:rPr>
              <a:t>即時 Q&amp;A 互動與課後行動資源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57200"/>
            <a:ext cx="11057839" cy="0"/>
          </a:xfrm>
          <a:prstGeom prst="line">
            <a:avLst/>
          </a:prstGeom>
          <a:ln w="15875">
            <a:solidFill>
              <a:srgbClr val="F5F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6035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  <a:ea typeface="Consolas"/>
              </a:rPr>
              <a:t>中研院職員訓練 / Antigravity 2.0 &amp;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8767" y="6035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UNIT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3566160" cy="2377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 i="0">
                <a:solidFill>
                  <a:srgbClr val="D75F00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48840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75F00"/>
                </a:solidFill>
                <a:latin typeface="Consolas"/>
                <a:ea typeface="Consolas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146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5F2EC"/>
                </a:solidFill>
                <a:latin typeface="Noto Sans TC"/>
                <a:ea typeface="Noto Sans TC"/>
              </a:rPr>
              <a:t>觀念建立：從</a:t>
            </a:r>
            <a:r>
              <a:rPr sz="3800" b="1" i="0">
                <a:solidFill>
                  <a:srgbClr val="D75F00"/>
                </a:solidFill>
                <a:latin typeface="Noto Sans TC"/>
                <a:ea typeface="Noto Sans TC"/>
              </a:rPr>
              <a:t>手刻語法</a:t>
            </a:r>
            <a:r>
              <a:rPr sz="3800" b="1" i="0">
                <a:solidFill>
                  <a:srgbClr val="F5F2EC"/>
                </a:solidFill>
                <a:latin typeface="Noto Sans TC"/>
                <a:ea typeface="Noto Sans TC"/>
              </a:rPr>
              <a:t>到對話式編程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520440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Vibe Coding 核心思維：用自然語言描述成果而非死背語法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人機協作典範轉移：從單純諮詢文字建議升級為主動代理人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免安裝觀摩模式：先看懂 AI 如何規劃，再決定日常落地策略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01  </a:t>
            </a: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觀念建立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138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02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介面導覽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03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實務示範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307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04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最佳實踐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01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Vibe Coding 的本質：用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自然語言描述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「成果」而非「步驟」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傳統開發要求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精確語法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；對話式編程只需給予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目標限制與驗收標準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304288"/>
          <a:ext cx="11057839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379"/>
                <a:gridCol w="4791730"/>
                <a:gridCol w="479173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工作維度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傳統工作方式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Vibe Coding 模式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核心要求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自行學習程式語言語法與工具設定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用日常繁體中文描述</a:t>
                      </a:r>
                      <a:r>
                        <a:rPr sz="1400" b="1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最終需要的文件或表格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卡關處理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查閱技術論壇、逐行偵錯與修改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直接告知 AI 錯誤訊息，</a:t>
                      </a:r>
                      <a:r>
                        <a:rPr sz="1400" b="1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要求重新規劃調整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角色定位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執行者：自行搬運資料與編排格式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指導者：</a:t>
                      </a:r>
                      <a:r>
                        <a:rPr sz="1400" b="1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檢閱 AI 規劃步驟並驗收成品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  <a:tr h="87553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門檻與效益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學習曲線陡峭，非技術同仁難以跨越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具備清晰邏輯與需求，</a:t>
                      </a:r>
                      <a:r>
                        <a:rPr sz="1400" b="1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任何人皆能驅動自動化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01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從單輪問答到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主動代理人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：AI 負責拆解步驟與執行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代理人模式具備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感知、規劃、執行與修正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的完整循環，將單純諮詢轉化為具體行動。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331720"/>
            <a:ext cx="5376672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255117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8A8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傳統問答式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953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「只說不做」的諮詢顧問模式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AI 僅在瀏覽器內產生文字，後續執行全由人工承擔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" y="3566160"/>
            <a:ext cx="4937760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" y="370332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步驟 1：輸入指令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使用者用文字提問，AI 提供程式碼或處理建議文字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步驟 2：手動搬移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使用者自行複製程式碼，切換至本機終端或文書軟體貼上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步驟 3：人工除錯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指令失敗或報錯時，使用者手動截圖或複製日誌回問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C13227"/>
                </a:solidFill>
                <a:latin typeface="Noto Sans TC"/>
                <a:ea typeface="Noto Sans TC"/>
              </a:rPr>
              <a:t>核心瓶頸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繁重的資料搬移、執行與環境除錯仍由人類肉身承擔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331720"/>
            <a:ext cx="5376672" cy="3977639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4808" y="255117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主動代理人模式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953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「目標導向」的數位實習生模式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自行規劃步驟、調用系統工具並回報透明變更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64808" y="3566160"/>
            <a:ext cx="4937760" cy="0"/>
          </a:xfrm>
          <a:prstGeom prst="line">
            <a:avLst/>
          </a:prstGeom>
          <a:ln w="12700">
            <a:solidFill>
              <a:srgbClr val="D75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64808" y="370332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步驟 1：定義目標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使用者用日常繁中下達目標（如整理某資料夾、抓取公告）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步驟 2：自主規劃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拆解子任務清單，主動說明預計執行的步驟與路徑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步驟 3：工具執行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在本機沙箱讀取檔案、執行腳本、生成結構化成果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核心價值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人類轉變為「需求定義者與驗收者」，省下 80% 機械工時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57200"/>
            <a:ext cx="11057839" cy="0"/>
          </a:xfrm>
          <a:prstGeom prst="line">
            <a:avLst/>
          </a:prstGeom>
          <a:ln w="15875">
            <a:solidFill>
              <a:srgbClr val="F5F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6035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  <a:ea typeface="Consolas"/>
              </a:rPr>
              <a:t>中研院職員訓練 / Antigravity 2.0 &amp;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8767" y="6035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UNIT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3566160" cy="2377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 i="0">
                <a:solidFill>
                  <a:srgbClr val="D75F00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48840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75F00"/>
                </a:solidFill>
                <a:latin typeface="Consolas"/>
                <a:ea typeface="Consolas"/>
              </a:rPr>
              <a:t>PART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146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5F2EC"/>
                </a:solidFill>
                <a:latin typeface="Noto Sans TC"/>
                <a:ea typeface="Noto Sans TC"/>
              </a:rPr>
              <a:t>工具駕馭：</a:t>
            </a:r>
            <a:r>
              <a:rPr sz="3800" b="1" i="0">
                <a:solidFill>
                  <a:srgbClr val="D75F00"/>
                </a:solidFill>
                <a:latin typeface="Noto Sans TC"/>
                <a:ea typeface="Noto Sans TC"/>
              </a:rPr>
              <a:t>Antigravity 2.0</a:t>
            </a:r>
            <a:r>
              <a:rPr sz="3800" b="1" i="0">
                <a:solidFill>
                  <a:srgbClr val="F5F2EC"/>
                </a:solidFill>
                <a:latin typeface="Noto Sans TC"/>
                <a:ea typeface="Noto Sans TC"/>
              </a:rPr>
              <a:t>核心介面導覽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520440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三大核心工作區：左側邊欄、中央對話畫布與右側輔助窗格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Slash Commands：輸入斜線「/」快速叫出專業代理人工作流程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@ Mention 引用：精準將本地檔案、資料夾與終端紀錄注入對話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01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觀念建立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138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02  </a:t>
            </a: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介面導覽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03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實務示範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307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04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最佳實踐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02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三大核心工作區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：管理、對話與產出歷程完全透明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不需開啟終端機或編輯器，所有操作在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單一桌面視窗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內即可完整掌控與監控。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441448"/>
            <a:ext cx="3072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ZONE 01  ·  </a:t>
            </a: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Sidebar · 導航與專案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07208"/>
            <a:ext cx="30723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1714"/>
                </a:solidFill>
                <a:latin typeface="Noto Sans TC"/>
                <a:ea typeface="Noto Sans TC"/>
              </a:rPr>
              <a:t>左側邊欄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管理工作空間、歷史任務與系統權限設定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" y="3538728"/>
            <a:ext cx="307238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" y="3666744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新對話：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快速啟動獨立任務，避免上下文互相污染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Projects：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自由切換不同的本機工作目錄與研究資料夾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Scheduled Tasks：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設定定時自動化背景排程（Cron）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Settings：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靈活切換 Gemini 模型並設定終端沙箱安全等級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441448"/>
            <a:ext cx="3072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ZONE 02  ·  </a:t>
            </a: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Chat Canvas · 對話與規劃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807208"/>
            <a:ext cx="30723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1714"/>
                </a:solidFill>
                <a:latin typeface="Noto Sans TC"/>
                <a:ea typeface="Noto Sans TC"/>
              </a:rPr>
              <a:t>中央畫布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使用者發布目標與審核 AI 計畫的主要溝通窗口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53712" y="3538728"/>
            <a:ext cx="3072384" cy="0"/>
          </a:xfrm>
          <a:prstGeom prst="line">
            <a:avLst/>
          </a:prstGeom>
          <a:ln w="12700">
            <a:solidFill>
              <a:srgbClr val="D75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53712" y="3666744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繁中自然語言：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直接輸入目標與驗收標準，由 AI 拆解步驟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Slash Commands：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鍵入「/」快速調用 /plan、/goal 專業模式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@ Mention 引用：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直接掛載本機檔案、目錄或終端紀錄為上下文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多模態拖曳：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支援直接貼上研究圖表截圖與問卷 PDF 供分析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41448"/>
            <a:ext cx="3072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ZONE 03  ·  </a:t>
            </a: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Auxiliary Pane · 歷程與成果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07208"/>
            <a:ext cx="30723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1714"/>
                </a:solidFill>
                <a:latin typeface="Noto Sans TC"/>
                <a:ea typeface="Noto Sans TC"/>
              </a:rPr>
              <a:t>右側輔助窗格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即時驗證 AI 產出成果並把關每一次本機檔案異動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1040" y="3538728"/>
            <a:ext cx="307238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21040" y="3666744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Artifacts 面板：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即時預覽 AI 產出的獨立報告、簡報與試算表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Files Changed：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視覺化列出被新增、編輯或移動的本機檔案清單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Terminal 面板：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完全透明檢視 AI 於沙箱環境執行的每一條指令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Subagents 監控：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觀察後台背景多代理人協同運作的即時狀態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02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原生介面全貌導覽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：導航側欄、對話畫布與提示詞輸入框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真實桌面環境一覽：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左側專案管理、中央發布目標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，底部輸入列直接調用快捷指令與切換模型。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ntigra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40280"/>
            <a:ext cx="7772400" cy="4129087"/>
          </a:xfrm>
          <a:prstGeom prst="rect">
            <a:avLst/>
          </a:prstGeom>
          <a:ln w="12700">
            <a:solidFill>
              <a:srgbClr val="E4DED4"/>
            </a:solidFill>
          </a:ln>
          <a:effectLst/>
        </p:spPr>
      </p:pic>
      <p:sp>
        <p:nvSpPr>
          <p:cNvPr id="7" name="Rectangle 6"/>
          <p:cNvSpPr/>
          <p:nvPr/>
        </p:nvSpPr>
        <p:spPr>
          <a:xfrm>
            <a:off x="621792" y="2542032"/>
            <a:ext cx="1371600" cy="3657600"/>
          </a:xfrm>
          <a:prstGeom prst="rect">
            <a:avLst/>
          </a:prstGeom>
          <a:noFill/>
          <a:ln w="2540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2596896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① 左側邊欄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3824" y="4123944"/>
            <a:ext cx="3886200" cy="548640"/>
          </a:xfrm>
          <a:prstGeom prst="rect">
            <a:avLst/>
          </a:prstGeom>
          <a:noFill/>
          <a:ln w="2540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18688" y="3867912"/>
            <a:ext cx="2423160" cy="219456"/>
          </a:xfrm>
          <a:prstGeom prst="roundRect">
            <a:avLst>
              <a:gd name="adj" fmla="val 50000"/>
            </a:avLst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② 提示詞輸入列 (/ 與 @ 快捷列)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240280"/>
            <a:ext cx="3026664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404872"/>
            <a:ext cx="26609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UI BREAKDOWN  ·  </a:t>
            </a: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視窗區域解析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79192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核心控制項位置對照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3081528"/>
            <a:ext cx="266090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0" y="3191256"/>
            <a:ext cx="266090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① 導航側欄 (Sidebar)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New Conversation：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開闢乾淨獨立脈絡，杜絕歷史任務污染。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Projects (agy)：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快速切換本機工作空間與研究資料夾。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Scheduled Tasks：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設定定時背景自動化排程任務。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② 提示詞輸入列 (Prompt Bar)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白話指派：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自然語言描述目標與格式需求。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模型切換：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即時切換 Gemini Flash / Pro。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斜線與引用：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鍵入 / 叫出計畫，鍵入 @ 注入本機資料。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02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斜線指令與 @ 引用：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精準傳遞上下文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是成功協作的關鍵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善用內建快捷語法，將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特定作業流程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與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本地檔案資訊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無縫送入模型，大幅減少反覆說明成本。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331720"/>
            <a:ext cx="5376672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255117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397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流程加速器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953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Slash Commands 「 / 」 快速流程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輸入斜線調用預設的高階代理人行為模式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" y="3566160"/>
            <a:ext cx="4937760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" y="370332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3972DA"/>
                </a:solidFill>
                <a:latin typeface="Consolas"/>
                <a:ea typeface="Consolas"/>
              </a:rPr>
              <a:t>/goal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交付長時間非同步任務，指示代理人持續工作直至徹底達成目標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3972DA"/>
                </a:solidFill>
                <a:latin typeface="Consolas"/>
                <a:ea typeface="Consolas"/>
              </a:rPr>
              <a:t>/plan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啟動規劃模式，要求 AI 在動手前先產出可審閱的完整步驟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3972DA"/>
                </a:solidFill>
                <a:latin typeface="Consolas"/>
                <a:ea typeface="Consolas"/>
              </a:rPr>
              <a:t>/browser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調用安全瀏覽器，進行公開網站互動、資料抓取或驗證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3972DA"/>
                </a:solidFill>
                <a:latin typeface="Consolas"/>
                <a:ea typeface="Consolas"/>
              </a:rPr>
              <a:t>/schedule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將重複性質高的指令設定為定時定週自動執行的背景任務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331720"/>
            <a:ext cx="5376672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4808" y="255117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脈絡注入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953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Context Mentions 「 @ 」 本地脈絡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輸入 @ 精準注入本機檔案與環境資料，杜絕 AI 憑空捏造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64808" y="3566160"/>
            <a:ext cx="4937760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64808" y="370332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D75F00"/>
                </a:solidFill>
                <a:latin typeface="Consolas"/>
                <a:ea typeface="Consolas"/>
              </a:rPr>
              <a:t>@檔案 / 資料夾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直接選取桌面上的資料表格（CSV/Excel）、PDF 或研究草稿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D75F00"/>
                </a:solidFill>
                <a:latin typeface="Consolas"/>
                <a:ea typeface="Consolas"/>
              </a:rPr>
              <a:t>@Terminal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將終端機目前執行的日誌與系統錯誤資訊即時注入對話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D75F00"/>
                </a:solidFill>
                <a:latin typeface="Consolas"/>
                <a:ea typeface="Consolas"/>
              </a:rPr>
              <a:t>@Rules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載入專屬作業規範，如中研院公文格式或院內特定排版指引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 i="0">
                <a:solidFill>
                  <a:srgbClr val="D75F00"/>
                </a:solidFill>
                <a:latin typeface="Consolas"/>
                <a:ea typeface="Consolas"/>
              </a:rPr>
              <a:t>@Conversations 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跨對話調用過去討論歷程與分析結論，保持工作連貫性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02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後台設定：模型配額與算力掌控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：掌握 Gemini 週期額度與費用邊界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依任務複雜度切換模型，透過後台即時掌握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5 小時與每週使用額度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，並開啟超額防護避免額外費用。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ettings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40280"/>
            <a:ext cx="6042291" cy="4160520"/>
          </a:xfrm>
          <a:prstGeom prst="rect">
            <a:avLst/>
          </a:prstGeom>
          <a:ln w="12700">
            <a:solidFill>
              <a:srgbClr val="E4DED4"/>
            </a:solidFill>
          </a:ln>
          <a:effectLst/>
        </p:spPr>
      </p:pic>
      <p:sp>
        <p:nvSpPr>
          <p:cNvPr id="7" name="Rectangle 6"/>
          <p:cNvSpPr/>
          <p:nvPr/>
        </p:nvSpPr>
        <p:spPr>
          <a:xfrm>
            <a:off x="2368296" y="3758184"/>
            <a:ext cx="3941063" cy="466344"/>
          </a:xfrm>
          <a:prstGeom prst="rect">
            <a:avLst/>
          </a:prstGeom>
          <a:noFill/>
          <a:ln w="25400">
            <a:solidFill>
              <a:srgbClr val="C13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23160" y="3502152"/>
            <a:ext cx="2331720" cy="219456"/>
          </a:xfrm>
          <a:prstGeom prst="roundRect">
            <a:avLst>
              <a:gd name="adj" fmla="val 50000"/>
            </a:avLst>
          </a:prstGeom>
          <a:solidFill>
            <a:srgbClr val="C1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② 費用超額防護開關 (預設關閉)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68296" y="4407408"/>
            <a:ext cx="3941063" cy="932688"/>
          </a:xfrm>
          <a:prstGeom prst="rect">
            <a:avLst/>
          </a:prstGeom>
          <a:noFill/>
          <a:ln w="28575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60519" y="4462272"/>
            <a:ext cx="2057400" cy="219456"/>
          </a:xfrm>
          <a:prstGeom prst="roundRect">
            <a:avLst>
              <a:gd name="adj" fmla="val 50000"/>
            </a:avLst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① Gemini 雙週期額度監控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240280"/>
            <a:ext cx="4032504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404872"/>
            <a:ext cx="36667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MODELS &amp; USAGE  ·  </a:t>
            </a: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算力與額度策略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79192"/>
            <a:ext cx="366674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模型選擇與成本邊界把關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3081528"/>
            <a:ext cx="366674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3191256"/>
            <a:ext cx="366674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① 雙重週期額度掌控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5 小時重置額度：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應對連續密集對話與多步驟測試，每 5 小時自動刷新。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每週總量額度：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宏觀掌握長期算力使用進度，避免單一專案耗盡額度。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② Flash vs. Pro 彈性分工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Gemini 3.8 Flash：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速度極快、耗額低，推薦用於磁碟整理、文字摘要。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Gemini 3.8 Pro：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深層規劃與複雜邏輯除錯，適合跨檔案大綱與爬蟲分析。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③ 帳單安全隔離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關閉 Credit Overages：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用量達上限時自動暫停，杜絕非預期之雲端信用卡扣款。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57200"/>
            <a:ext cx="11057839" cy="0"/>
          </a:xfrm>
          <a:prstGeom prst="line">
            <a:avLst/>
          </a:prstGeom>
          <a:ln w="15875">
            <a:solidFill>
              <a:srgbClr val="F5F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6035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  <a:ea typeface="Consolas"/>
              </a:rPr>
              <a:t>中研院職員訓練 / Antigravity 2.0 &amp;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8767" y="6035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UNIT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3566160" cy="2377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 i="0">
                <a:solidFill>
                  <a:srgbClr val="D75F00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48840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75F00"/>
                </a:solidFill>
                <a:latin typeface="Consolas"/>
                <a:ea typeface="Consolas"/>
              </a:rPr>
              <a:t>PART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146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5F2EC"/>
                </a:solidFill>
                <a:latin typeface="Noto Sans TC"/>
                <a:ea typeface="Noto Sans TC"/>
              </a:rPr>
              <a:t>實務示範：日常行政與研究的</a:t>
            </a:r>
            <a:r>
              <a:rPr sz="3800" b="1" i="0">
                <a:solidFill>
                  <a:srgbClr val="D75F00"/>
                </a:solidFill>
                <a:latin typeface="Noto Sans TC"/>
                <a:ea typeface="Noto Sans TC"/>
              </a:rPr>
              <a:t>三大落地場景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520440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示範 A：雜亂檔案智慧歸檔，先預覽清單再執行，杜絕誤刪風險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示範 B：原始資料直接生成多頁簡報，以對話持續微調語氣與圖表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示範 C：公開網站資訊抓取與排程，免寫程式碼也能定期追蹤更新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01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觀念建立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138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02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介面導覽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03  </a:t>
            </a: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實務示範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307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04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最佳實踐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03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示範 A：雜亂檔案智慧歸檔，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變更前一律先看清單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以 Downloads 資料夾為例，依據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檔案類型與年份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建立結構，並透過清單確認杜絕誤刪風險。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容量與類型盤點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「請掃描 Downloads 目錄，列出各副檔名數量與大於 1GB 檔案」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自主調用本機目錄讀取工具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產出 PDF、ZIP、影像各佔容量統計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標記出長期佔用空間的巨型安裝檔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建議架構確認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「請依 年份/月份 與類別規劃子目錄，先列清單讓我確認」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66160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66160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擬定建議搬遷對照路徑表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強制設定確認關卡，等待人類審核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可隨時要求調整規則（如特定專案留存）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安全批次歸檔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82512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82512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「計畫已核可，請開始執行分類移動」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82512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82512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於本機自動建立分類資料夾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自動批次搬移檔案至對應目錄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在 Files Changed 面板即時核對異動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重複檔清理釋放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98864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98864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「比對重複下載的舊版檔案，列出清單供我勾選刪除」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98864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98864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透過雜湊值（Hash）精準找出重複檔案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人工勾選確認後執行清理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安全釋出磁碟空間，留下完整紀錄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03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示範 B：從原始資料到多頁簡報，以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代理人工作流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自動構建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體驗 Antigravity 原生簡報製作：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大綱規劃 → Python 構建 → 視覺驗收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，一氣呵成產出可編輯簡報與聯絡單。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資料脈絡注入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「@問卷調查.csv 這是中研院同仁反饋，請分析痛點並規劃 5 頁簡報」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鍵入 @ 直接引用本機數據與參考文件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自主統計回覆筆數、平均分與關鍵詞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免開 Excel 即可萃取宏觀洞察與趨勢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結構大綱規劃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「/plan 請擬定 outline.md，明確定義各頁標題、論點與視覺形式」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66160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66160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啟動規劃模式先出具章節結構與規格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嚴格依據黃金圈與敘事邏輯排列頁面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使用者確認大綱無誤後才批准動手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Python 原生構建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82512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82512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「請調用 python-pptx 構建簡報，嚴格遵循 2pt 格線與暖白配色」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82512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82512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自動撰寫 Python 腳本生成可編輯物件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非死板截圖，文字、圖表均可手動微調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完全符合中研院簡報設計規範與色系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視覺彩現驗收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98864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98864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「導出各頁 PNG 預覽與全覽聯絡單，並轉存 presentation.pdf」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98864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98864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自動產生單頁預覽圖與 20 頁總覽聯絡單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免開啟 PowerPoint 即可即時檢驗排版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支援匯入 Google Slides 供團隊線上協作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03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示範 C：公開網站資訊抓取與排程，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免寫程式碼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也能定期追蹤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以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政府公開資料網站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為例，自動擷取公告清單並設定每週定時更新，告別手動複製貼上。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目標與欄位定義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「抓取政府採購公開網站最新 10 筆公告標題、日期與連結」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指定目標公開網址與所需資料欄位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自主檢核網站架構與 robots.txt 合規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確認資料來源公開合法，杜絕版權疑慮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沙箱工具自主執行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「使用終端工具取得網頁內容並解析指定標籤」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66160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66160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自主撰寫輕量提取程式碼並於沙箱執行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使用者全程無需學習 Python 或 HTML 標籤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終端面板即時顯示執行指令與回傳狀態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結構表格呈現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82512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82512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「將提取到的資料整理成欄位分明的 CSV 與 Markdown 表格」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82512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82512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非結構化網頁文字自動清洗轉為標準表格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右側 Artifacts 面板即時預覽抓取成果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一鍵匯出 Excel 或直接貼入內部報告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2331720"/>
            <a:ext cx="2596896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2532888"/>
            <a:ext cx="22311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83464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背景定時自動化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98864" y="338328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98864" y="3502152"/>
            <a:ext cx="2231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指示範例：
</a:t>
            </a:r>
            <a:r>
              <a:rPr sz="1200" b="0" i="1">
                <a:solidFill>
                  <a:srgbClr val="1A1714"/>
                </a:solidFill>
                <a:latin typeface="Noto Sans TC"/>
                <a:ea typeface="Noto Sans TC"/>
              </a:rPr>
              <a:t>「設定每週一早上 09:00 自動執行抓取，並比對新公告」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98864" y="4572000"/>
            <a:ext cx="2231136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98864" y="4690872"/>
            <a:ext cx="2231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利用 Scheduled Tasks 註冊定時任務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背景自動化運作，有新異動主動發送通知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 i="0">
                <a:solidFill>
                  <a:srgbClr val="8A8177"/>
                </a:solidFill>
                <a:latin typeface="Noto Sans TC"/>
                <a:ea typeface="Noto Sans TC"/>
              </a:rPr>
              <a:t>▸ 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徹底將週期性繁瑣查核轉化為無人值守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57200"/>
            <a:ext cx="11057839" cy="0"/>
          </a:xfrm>
          <a:prstGeom prst="line">
            <a:avLst/>
          </a:prstGeom>
          <a:ln w="15875">
            <a:solidFill>
              <a:srgbClr val="F5F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6035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  <a:ea typeface="Consolas"/>
              </a:rPr>
              <a:t>中研院職員訓練 / Antigravity 2.0 &amp;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8767" y="6035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UNIT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3566160" cy="2377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 i="0">
                <a:solidFill>
                  <a:srgbClr val="D75F00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48840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75F00"/>
                </a:solidFill>
                <a:latin typeface="Consolas"/>
                <a:ea typeface="Consolas"/>
              </a:rPr>
              <a:t>PART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146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5F2EC"/>
                </a:solidFill>
                <a:latin typeface="Noto Sans TC"/>
                <a:ea typeface="Noto Sans TC"/>
              </a:rPr>
              <a:t>治理守則：下好 Prompt 與</a:t>
            </a:r>
            <a:r>
              <a:rPr sz="3800" b="1" i="0">
                <a:solidFill>
                  <a:srgbClr val="D75F00"/>
                </a:solidFill>
                <a:latin typeface="Noto Sans TC"/>
                <a:ea typeface="Noto Sans TC"/>
              </a:rPr>
              <a:t>防護安全邊界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520440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Prompt 四大關鍵要素：給足角色、背景、格式與限制，一次就做對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代理人協作的三大防線：計畫審核、機密資料隔離與結果人工查驗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·  </a:t>
            </a:r>
            <a:r>
              <a:rPr sz="1400" b="0" i="0">
                <a:solidFill>
                  <a:srgbClr val="CFC9C0"/>
                </a:solidFill>
                <a:latin typeface="Noto Sans TC"/>
                <a:ea typeface="Noto Sans TC"/>
              </a:rPr>
              <a:t>從一件小工作開始嘗試：挑選日常低風險重複性任務展開第一步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01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觀念建立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138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02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介面導覽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8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F877C"/>
                </a:solidFill>
                <a:latin typeface="Consolas"/>
                <a:ea typeface="Consolas"/>
              </a:rPr>
              <a:t>03  </a:t>
            </a:r>
            <a:r>
              <a:rPr sz="1200" b="0" i="0">
                <a:solidFill>
                  <a:srgbClr val="8F877C"/>
                </a:solidFill>
                <a:latin typeface="Noto Sans TC"/>
                <a:ea typeface="Noto Sans TC"/>
              </a:rPr>
              <a:t>實務示範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307" y="6254496"/>
            <a:ext cx="25815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04  </a:t>
            </a: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最佳實踐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04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提示詞四大關鍵要素：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給足角色、背景、格式與限制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擺脫「幫我整理資料」的模糊指令，用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四維度結構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讓 AI 第一次就能精準交付符合預期的成果。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304288"/>
          <a:ext cx="11057839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676"/>
                <a:gridCol w="2948757"/>
                <a:gridCol w="2211568"/>
                <a:gridCol w="4238838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要素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核心意義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不佳示範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5F2EC"/>
                          </a:solidFill>
                          <a:latin typeface="Noto Sans TC"/>
                          <a:ea typeface="Noto Sans TC"/>
                        </a:rPr>
                        <a:t>推薦示範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1A1714"/>
                    </a:solidFill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角色 (Role)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設定專業視角、思考深度與專案標準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（未設定角色）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「你是一位資深的</a:t>
                      </a:r>
                      <a:r>
                        <a:rPr sz="1400" b="1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學術專案資料分析師</a:t>
                      </a: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」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背景 (Context)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提供任務情境、資料規模與業務目標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「整理這份資料」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「這是院內 2026 年問卷調查結果，</a:t>
                      </a:r>
                      <a:r>
                        <a:rPr sz="1400" b="1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共 500 筆紀錄</a:t>
                      </a: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」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格式 (Format)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明確指定輸出結構、載體與段落編排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「給我摘要」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「請整理成 Markdown 表格，並依重要性</a:t>
                      </a:r>
                      <a:r>
                        <a:rPr sz="1400" b="1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條列 3 點具體結論</a:t>
                      </a: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」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  <a:tr h="87553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限制 (Constraint)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劃定不可逾越的安全邊界與過濾條件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（未設定限制條件）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「不要更動原始檔案，大於 500MB 者</a:t>
                      </a:r>
                      <a:r>
                        <a:rPr sz="1400" b="1" i="0">
                          <a:solidFill>
                            <a:srgbClr val="D75F00"/>
                          </a:solidFill>
                          <a:latin typeface="Noto Sans TC"/>
                          <a:ea typeface="Noto Sans TC"/>
                        </a:rPr>
                        <a:t>僅列清單勿逕行移動</a:t>
                      </a:r>
                      <a:r>
                        <a:rPr sz="1400" b="0" i="0">
                          <a:solidFill>
                            <a:srgbClr val="4A443D"/>
                          </a:solidFill>
                          <a:latin typeface="Noto Sans TC"/>
                          <a:ea typeface="Noto Sans TC"/>
                        </a:rPr>
                        <a:t>」</a:t>
                      </a:r>
                    </a:p>
                  </a:txBody>
                  <a:tcPr marL="109728" marR="109728" marT="54864" marB="54864" anchor="ctr">
                    <a:lnL w="12700">
                      <a:solidFill>
                        <a:srgbClr val="DED8CE"/>
                      </a:solidFill>
                      <a:prstDash val="solid"/>
                    </a:lnL>
                    <a:lnR w="12700">
                      <a:solidFill>
                        <a:srgbClr val="DED8CE"/>
                      </a:solidFill>
                      <a:prstDash val="solid"/>
                    </a:lnR>
                    <a:lnT w="12700">
                      <a:solidFill>
                        <a:srgbClr val="DED8CE"/>
                      </a:solidFill>
                      <a:prstDash val="solid"/>
                    </a:lnT>
                    <a:lnB w="12700">
                      <a:solidFill>
                        <a:srgbClr val="DED8CE"/>
                      </a:solidFill>
                      <a:prstDash val="solid"/>
                    </a:lnB>
                    <a:solidFill>
                      <a:srgbClr val="FA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04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超越單次對話：以 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Skills、MCP 與 Plugins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 打造長期專屬生產力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擺脫單次重複下指令的繁瑣，透過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技能沉澱流程、協議連接外部工具、外掛模組化分發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，將 AI 升級為組織級的專屬專家。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24414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流程沉澱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2441448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A8177"/>
                </a:solidFill>
                <a:latin typeface="Consolas"/>
                <a:ea typeface="Consolas"/>
              </a:rPr>
              <a:t>架構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07208"/>
            <a:ext cx="30723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Agent Skills (技能庫)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多步驟 SOP 封裝為標準 Runbook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" y="3593592"/>
            <a:ext cx="307238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" y="3721608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漸進加載機制：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平時僅加載名稱與描述，按需喚醒完整指令，大幅節省 Token。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結構化流程包：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包含 SKILL.md 指引、輔助 scripts、範例與自訂驗證步驟。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版本控制共用：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存放於 .agents/skills/，隨專案 Git 簽入，團隊成員開箱即用。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24414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工具擴充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0136" y="2441448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架構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07208"/>
            <a:ext cx="30723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MCP 外部協議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開放標準通訊連接外部資料與系統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53712" y="3593592"/>
            <a:ext cx="3072384" cy="0"/>
          </a:xfrm>
          <a:prstGeom prst="line">
            <a:avLst/>
          </a:prstGeom>
          <a:ln w="12700">
            <a:solidFill>
              <a:srgbClr val="D75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53712" y="3721608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通用開放協議：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支援本機 Stdio 進程與遠端 SSE 串流，安全開放外部工具調用。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串接內部資源：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透過 mcp_config.json 介接院內資料庫、私有 API 或本機系統。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動態工具探索：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啟動自動註冊 Tools 到 AI 工具箱，擺脫手動複製貼上。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24414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生態分發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441448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A8177"/>
                </a:solidFill>
                <a:latin typeface="Consolas"/>
                <a:ea typeface="Consolas"/>
              </a:rPr>
              <a:t>架構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07208"/>
            <a:ext cx="30723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Plugins (外掛套件)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模組化整合與團隊一鍵分發大禮包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21040" y="3593592"/>
            <a:ext cx="307238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21040" y="3721608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全功能打包袋：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以 plugin.json 為核心，整合 Skills、Rules、MCP 與 Hooks。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獨立命名空間：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有效防止跨專案工具與規則命名衝突，權限清晰獨立。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彈性開關管理：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可透過設定介面或 CLI 自由啟用/停用，依專案需求抽換。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04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代理人協作的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三大防線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：計畫審核、資料隔離與結果查驗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在充分享受自動化便利的同時，必須確保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資安合規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與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學術資料嚴謹性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，築牢風險防線。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24414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執行把關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2441448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A8177"/>
                </a:solidFill>
                <a:latin typeface="Consolas"/>
                <a:ea typeface="Consolas"/>
              </a:rPr>
              <a:t>防線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07208"/>
            <a:ext cx="30723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永遠先確認計畫再放行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特別防範涉及檔案移動、覆蓋與刪除的操作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" y="3593592"/>
            <a:ext cx="307238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" y="3721608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先列清單原則：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下達破壞性或搬遷指令時，要求 AI 先提供預計變更對照表。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善用異動面板：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在 Files Changed 輔助窗格逐一核對異動路徑，確認無誤再放行。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保留原始備份：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執行批次整理前，建議將原始資料夾進行本機封存或快照備份。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24414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C1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資安紅線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0136" y="2441448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防線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07208"/>
            <a:ext cx="30723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機密與個人隱私嚴格隔離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未公開的學術研究資料與個資不上傳雲端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53712" y="3593592"/>
            <a:ext cx="3072384" cy="0"/>
          </a:xfrm>
          <a:prstGeom prst="line">
            <a:avLst/>
          </a:prstGeom>
          <a:ln w="12700">
            <a:solidFill>
              <a:srgbClr val="D75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53712" y="3721608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敏感資料不上傳：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涉及人體受試者個資、人事隱私、未公開論文草稿禁止直接上傳。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脫敏演練習慣：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教學與日常測試一律使用脫敏假資料或公開資料集進行演練。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▸ 遵循院內規範：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遵循中研院資通安全管理作業準則，確認模型與外網通訊權限。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2240280"/>
            <a:ext cx="3511296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24414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嚴謹驗收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441448"/>
            <a:ext cx="1956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A8177"/>
                </a:solidFill>
                <a:latin typeface="Consolas"/>
                <a:ea typeface="Consolas"/>
              </a:rPr>
              <a:t>防線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07208"/>
            <a:ext cx="307238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A1714"/>
                </a:solidFill>
                <a:latin typeface="Noto Sans TC"/>
                <a:ea typeface="Noto Sans TC"/>
              </a:rPr>
              <a:t>產出資料與引用人工查驗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擔任提速實習生，最終成果責任在人類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21040" y="3593592"/>
            <a:ext cx="307238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21040" y="3721608"/>
            <a:ext cx="307238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查驗數字統計：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LLM 可能存在計算或幻覺風險，簡報內的關鍵統計務必二次覆核。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點選外部連結：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爬蟲或整理之文獻連結與法規條文，發布前手動抽驗有效性。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人類負責任簽核：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AI 產出之公文簽呈與專案報告，由承辦與研究同仁承擔簽定責任。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04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D75F00"/>
                </a:solidFill>
                <a:latin typeface="Noto Sans TC"/>
                <a:ea typeface="Noto Sans TC"/>
              </a:rPr>
              <a:t>防線一實體設定：計畫審核機制</a:t>
            </a:r>
            <a:r>
              <a:rPr sz="2600" b="1" i="0">
                <a:solidFill>
                  <a:srgbClr val="1A1714"/>
                </a:solidFill>
                <a:latin typeface="Noto Sans TC"/>
                <a:ea typeface="Noto Sans TC"/>
              </a:rPr>
              <a:t>：以 Always Ask 阻斷非預期檔案異動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在動手前先看計畫：將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Plan Review Policy 設為 Always Ask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，杜絕任何未經確認的本機檔案覆蓋與刪除。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ettings-genera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40280"/>
            <a:ext cx="6520914" cy="4160519"/>
          </a:xfrm>
          <a:prstGeom prst="rect">
            <a:avLst/>
          </a:prstGeom>
          <a:ln w="12700">
            <a:solidFill>
              <a:srgbClr val="E4DED4"/>
            </a:solidFill>
          </a:ln>
          <a:effectLst/>
        </p:spPr>
      </p:pic>
      <p:sp>
        <p:nvSpPr>
          <p:cNvPr id="7" name="Rectangle 6"/>
          <p:cNvSpPr/>
          <p:nvPr/>
        </p:nvSpPr>
        <p:spPr>
          <a:xfrm>
            <a:off x="2377440" y="2788920"/>
            <a:ext cx="3977639" cy="594360"/>
          </a:xfrm>
          <a:prstGeom prst="rect">
            <a:avLst/>
          </a:prstGeom>
          <a:noFill/>
          <a:ln w="28575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46119" y="2532888"/>
            <a:ext cx="3063240" cy="219456"/>
          </a:xfrm>
          <a:prstGeom prst="roundRect">
            <a:avLst>
              <a:gd name="adj" fmla="val 50000"/>
            </a:avLst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★ 關鍵設定：Plan Review Policy = Always 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240280"/>
            <a:ext cx="4215384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404872"/>
            <a:ext cx="3849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EXECUTION SAFEGUARD  ·  </a:t>
            </a: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執行把關防線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79192"/>
            <a:ext cx="38496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堅持「先看計畫再放行」的操作原則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0" y="3081528"/>
            <a:ext cx="384962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89520" y="3191256"/>
            <a:ext cx="384962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① Always Ask 的防護機制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強制中斷等待批准：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遇批次檔案移動、刪除或覆蓋，AI 必須停手呈報計畫。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點選 Proceed 始得執行：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只有使用者在介面確認計畫無誤後，代理人才獲准動手。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② 善用 /plan 斜線指令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主動啟動規劃模式：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複雜任務前輸入 /plan，要求 AI 先梳理步驟清單與邊界。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消除 95% 溝通落差：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在投入實際修改前釐清目錄、格式與邏輯，大幅降低試錯成本。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Noto Sans TC"/>
                <a:ea typeface="Noto Sans TC"/>
              </a:rPr>
              <a:t>③ 中研院職員最佳實踐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禁止切換為 Never Ask：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日常行政與學術研究嚴禁關閉計畫確認，保持操作透明可稽。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04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防線二實體設定：安全沙箱等級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：堅守 Default 預設沙箱防護隔離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把守資安邊界：將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Security Preset 維持為 Default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，所有終端指令與跨目錄檔案存取皆需人工逐條審查。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ettings-general-security-p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40280"/>
            <a:ext cx="6379122" cy="4160520"/>
          </a:xfrm>
          <a:prstGeom prst="rect">
            <a:avLst/>
          </a:prstGeom>
          <a:ln w="12700">
            <a:solidFill>
              <a:srgbClr val="E4DED4"/>
            </a:solidFill>
          </a:ln>
          <a:effectLst/>
        </p:spPr>
      </p:pic>
      <p:sp>
        <p:nvSpPr>
          <p:cNvPr id="7" name="Rectangle 6"/>
          <p:cNvSpPr/>
          <p:nvPr/>
        </p:nvSpPr>
        <p:spPr>
          <a:xfrm>
            <a:off x="3739896" y="3840480"/>
            <a:ext cx="2633472" cy="1828800"/>
          </a:xfrm>
          <a:prstGeom prst="rect">
            <a:avLst/>
          </a:prstGeom>
          <a:noFill/>
          <a:ln w="28575">
            <a:solidFill>
              <a:srgbClr val="C13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94760" y="3584448"/>
            <a:ext cx="3063240" cy="219456"/>
          </a:xfrm>
          <a:prstGeom prst="roundRect">
            <a:avLst>
              <a:gd name="adj" fmla="val 50000"/>
            </a:avLst>
          </a:prstGeom>
          <a:solidFill>
            <a:srgbClr val="C1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★ 核心防護：Default (終端與目錄外存取強制審查)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240280"/>
            <a:ext cx="4215384" cy="41605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404872"/>
            <a:ext cx="3849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13227"/>
                </a:solidFill>
                <a:latin typeface="Consolas"/>
                <a:ea typeface="Consolas"/>
              </a:rPr>
              <a:t>DATA ISOLATION  ·  </a:t>
            </a: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資安紅線防護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79192"/>
            <a:ext cx="38496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四種安全預設與院內合規底線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0" y="3081528"/>
            <a:ext cx="3849624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89520" y="3191256"/>
            <a:ext cx="384962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13227"/>
                </a:solidFill>
                <a:latin typeface="Noto Sans TC"/>
                <a:ea typeface="Noto Sans TC"/>
              </a:rPr>
              <a:t>① Default（推薦 · 院內唯一規範）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手動審查指令：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所有涉及系統終端機之操作，皆需人工檢視並按確認。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目錄外隔離：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嚴格禁止 AI 自主讀寫工作專案資料夾外的任何本機檔案。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② Full Machine 與 Turbo 之危害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Full Machine 風險：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允許跨全機所有磁區讀寫，容易誤觸個人隱私或系統檔。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Turbo Mode 嚴禁啟用：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完全解除一切安全審查屏障，院內環境一律嚴禁使用。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③ 遵循中研院資安守則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A1714"/>
                </a:solidFill>
                <a:latin typeface="Noto Sans TC"/>
                <a:ea typeface="Noto Sans TC"/>
              </a:rPr>
              <a:t>▸ 敏感資料不落地：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涉及未公開學術數據或個資，切勿開啟任意存取許可權。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5F00"/>
                </a:solidFill>
                <a:latin typeface="Consolas"/>
                <a:ea typeface="Consolas"/>
              </a:rPr>
              <a:t>// 04</a:t>
            </a:r>
            <a:r>
              <a:rPr sz="1200" b="0" i="0">
                <a:solidFill>
                  <a:srgbClr val="D75F00"/>
                </a:solidFill>
                <a:latin typeface="Consolas"/>
                <a:ea typeface="Consolas"/>
              </a:rPr>
              <a:t>   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從</a:t>
            </a:r>
            <a:r>
              <a:rPr sz="2800" b="1" i="0">
                <a:solidFill>
                  <a:srgbClr val="D75F00"/>
                </a:solidFill>
                <a:latin typeface="Noto Sans TC"/>
                <a:ea typeface="Noto Sans TC"/>
              </a:rPr>
              <a:t>一件小工作開始</a:t>
            </a:r>
            <a:r>
              <a:rPr sz="2800" b="1" i="0">
                <a:solidFill>
                  <a:srgbClr val="1A1714"/>
                </a:solidFill>
                <a:latin typeface="Noto Sans TC"/>
                <a:ea typeface="Noto Sans TC"/>
              </a:rPr>
              <a:t>嘗試：課後資源與實踐清單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AI 代理人的協作技能唯有在</a:t>
            </a:r>
            <a:r>
              <a:rPr sz="1600" b="1" i="0">
                <a:solidFill>
                  <a:srgbClr val="1A1714"/>
                </a:solidFill>
                <a:latin typeface="Noto Sans TC"/>
                <a:ea typeface="Noto Sans TC"/>
              </a:rPr>
              <a:t>實際操作中內化</a:t>
            </a:r>
            <a:r>
              <a:rPr sz="1600" b="0" i="0">
                <a:solidFill>
                  <a:srgbClr val="8A8177"/>
                </a:solidFill>
                <a:latin typeface="Noto Sans TC"/>
                <a:ea typeface="Noto Sans TC"/>
              </a:rPr>
              <a:t>；善用院內資源與提示詞模板，本週就能啟動第一次嘗試。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2011680"/>
            <a:ext cx="11057839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331720"/>
            <a:ext cx="5376672" cy="3977639"/>
          </a:xfrm>
          <a:prstGeom prst="roundRect">
            <a:avLst>
              <a:gd name="adj" fmla="val 6000"/>
            </a:avLst>
          </a:prstGeom>
          <a:solidFill>
            <a:srgbClr val="F6E3D2"/>
          </a:solidFill>
          <a:ln w="19050">
            <a:solidFill>
              <a:srgbClr val="D7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255117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D7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實踐清單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953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本週即可落地的三步行動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不需要翻新整套工作流程，先挑一件枯燥重複的小任務開始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" y="3566160"/>
            <a:ext cx="4937760" cy="0"/>
          </a:xfrm>
          <a:prstGeom prst="line">
            <a:avLst/>
          </a:prstGeom>
          <a:ln w="12700">
            <a:solidFill>
              <a:srgbClr val="D75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" y="370332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第 1 步：挑選低風險標的
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找一個平時疏於整理的 Downloads 資料夾，或一份剛收集好的問卷 CSV 表格。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第 2 步：套用四要素開局
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用「角色＋背景＋格式＋限制」清晰描述需求，並註明「先列清單讓我核可」。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400" b="1" i="0">
                <a:solidFill>
                  <a:srgbClr val="D75F00"/>
                </a:solidFill>
                <a:latin typeface="Noto Sans TC"/>
                <a:ea typeface="Noto Sans TC"/>
              </a:rPr>
              <a:t>第 3 步：檢閱產出與歷程
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觀察右側 Artifacts 生成成果與 Files Changed 變更清單，體驗 Vibe Coding 節奏。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331720"/>
            <a:ext cx="5376672" cy="3977639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4808" y="255117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F2EC"/>
                </a:solidFill>
                <a:latin typeface="Noto Sans TC"/>
                <a:ea typeface="Noto Sans TC"/>
              </a:rPr>
              <a:t>課後資源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953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A1714"/>
                </a:solidFill>
                <a:latin typeface="Noto Sans TC"/>
                <a:ea typeface="Noto Sans TC"/>
              </a:rPr>
              <a:t>延伸學習文件與諮詢管道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院內提供完整錄影回放與提示詞範本卡，陪伴後續實踐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64808" y="3566160"/>
            <a:ext cx="4937760" cy="0"/>
          </a:xfrm>
          <a:prstGeom prst="line">
            <a:avLst/>
          </a:prstGeom>
          <a:ln w="12700">
            <a:solidFill>
              <a:srgbClr val="DE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64808" y="3685032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官方技術文件 </a:t>
            </a:r>
            <a:r>
              <a:rPr sz="1200" b="0" i="0">
                <a:solidFill>
                  <a:srgbClr val="8A8177"/>
                </a:solidFill>
                <a:latin typeface="Consolas"/>
                <a:ea typeface="Consolas"/>
              </a:rPr>
              <a:t>(https://antigravity.google/docs)
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  涵蓋完整介面指令、設定檔與進階功能導覽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工作坊全程錄影 </a:t>
            </a: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(Google Meet 自動錄製存檔)
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  已同步上傳院內共用雲端硬碟，供同仁隨時回放複習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Prompt 範本卡 </a:t>
            </a: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(實務場景模板 (PDF 單頁))
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  彙整檔案整理、簡報分析、網站抓取 3 大現成指令範本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1A1714"/>
                </a:solidFill>
                <a:latin typeface="Noto Sans TC"/>
                <a:ea typeface="Noto Sans TC"/>
              </a:rPr>
              <a:t>▸ 內部技術支援 </a:t>
            </a:r>
            <a:r>
              <a:rPr sz="1200" b="0" i="0">
                <a:solidFill>
                  <a:srgbClr val="8A8177"/>
                </a:solidFill>
                <a:latin typeface="Noto Sans TC"/>
                <a:ea typeface="Noto Sans TC"/>
              </a:rPr>
              <a:t>(資訊處技術諮詢窗口)
</a:t>
            </a:r>
            <a:r>
              <a:rPr sz="1200" b="0" i="0">
                <a:solidFill>
                  <a:srgbClr val="4A443D"/>
                </a:solidFill>
                <a:latin typeface="Noto Sans TC"/>
                <a:ea typeface="Noto Sans TC"/>
              </a:rPr>
              <a:t>  若在安裝或連線遇到技術障礙，歡迎向團隊諮詢協助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